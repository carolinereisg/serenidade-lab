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(1–2 min)
Boas-vindas. Apresente-se em uma frase e diga o que a pessoa vai levar: um jeito de olhar o traçado que não deixa passar os padrões graves.
Combine as regras: tenha papel e caneta; em cada traçado eu vou pausar e pedir que você classifique antes de eu mostrar a resposta.
[COMENTÁRIO] Todos os traçados desta apresentação são ILUSTRATIVOS (simulados). Se quiser, substitua por traçados reais anonimizados do seu acervo — eles engajam muito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GORILA (2–3 min)
Conte a história: pesquisadores pediram a radiologistas que procurassem nódulos em TCs de tórax. Numa das imagens havia um gorila muito maior que os nódulos. A maioria não viu — e o rastreamento ocular mostrou que muitos olharam para o lugar exato.
Mensagem: o problema não é olhar pouco, é olhar procurando outra coisa. No plantão, a gente procura 'tem acelerações? tem desaceleração grande?'. E o que é sutil passa.
[COMENTÁRIO / CONFERIR] Números do estudo (24 radiologistas, 20 não viram; gorila ~48x maior que o nódulo; quantos olharam para o local) — conferir no artigo original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(1 min)
Mostre que a aula não é 'CTG do zero'. É um treino de olhar para quatro situações de alto risco.
Frase de transição: 'Antes, vamos alinhar a linguagem — porque metade das discussões de plantão sobre CTG é gente usando a mesma palavra para coisas diferentes.'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VOCABULÁRIO (2 min)
Passe rápido, sem ler a tabela. Destaque só duas coisas:
1) Variabilidade é a amplitude das oscilações da linha de base — é o dado que mais conta sobre a reserva do bebê.
2) 'Recorrente' tem definição: ≥ 50% das contrações em 20 minutos. Não é 'algumas'.
[COMENTÁRIO] Se você usa SOGC no seu serviço/app, diga aqui que a lógica é a mesma, mudam os rótulos (normal / atípico / anormal).
[CONFERIR] Definições conforme NICHD 2008 / ACOG PB 106.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
Pergunta para a audiência antes de mostrar o próximo slide: 'Se eu te mostrar uma onda regular, bonita, de 10 batimentos de amplitude — você chamaria isso de variabilidade moderada?' Deixe a pergunta no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SINUSOIDAL VERDADEIRO (3–4 min)
Peça para olharem o traçado e dizerem o que chama atenção. A resposta: ele é REGULAR demais. Variabilidade fisiológica é irregular — é o sistema nervoso autônomo 'conversando'. Uma onda previsível significa que essa conversa parou.
Pontos-chave:
• Onda suave, sem 'dentes', como um seno.
• 3 a 5 ciclos por minuto, amplitude de 5 a 15 bpm.
• Não há acelerações e não há reatividade.
• Persiste: FIGO fala em &gt; 30 min; ACOG, em ≥ 20 min para Categoria III.
[CONFERIR] Valores conforme FIGO 2015 e ACOG PB 106. Na SOGC é classificado como anormal — confirme o critério exato na diretriz que você usa no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SIGNIFICADO (3 min)
O sinusoidal verdadeiro está classicamente associado a anemia fetal grave. Cite as causas e peça que pensem na história: Rh negativo sensibilizada? Sangramento? Trauma abdominal? Redução de movimentos?
Conduta: não é traçado para 'repetir mais tarde'. É avaliação imediata e decisão em equipe.
[COMENTÁRIO] Adapte a conduta ao protocolo do seu serviço. A indicação de Doppler/Kleihauer depende do cenário (anteparto estável × intraparto com traçado persistente).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SINUSOIDAL ATÍPICO (3 min)
Mensagem: o padrão grave nem sempre vem 'de livro'. Há descrições de padrões sinusoidais com amplitude maior ou irregular e formas menos suaves, também associados a comprometimento fetal.
O risco aqui é duplo: (1) não reconhecer como sinusoidal porque 'não é bonito o suficiente'; (2) chamar de pseudossinusoidal por ser irregular. A pergunta que resolve: ele é persistente? tem acelerações? tem trechos normais antes e depois? qual é o contexto?
[CONFERIR — IMPORTANTE] Não tenho certeza da definição exata de 'sinusoidal atípico' que você usa. Há literatura que discute formas atípicas e classificação por amplitude (ex.: Modanlou &amp; Freeman 1982; Modanlou &amp; Murata 2004; Murphy et al.). Revise este slide com a sua referência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PSEUDOSSINUSOIDAL (3 min)
Mostre o traçado inteiro: acelerações, trecho 'serrilhado' curto, acelerações de novo. É um bebê reativo que fez uma pausa num padrão diferente — por exemplo sugando o dedo, ou após opioide materno.
Dica prática: se estiver fazendo ultrassom, às vezes dá para ver a sucção/movimento de boca coincidindo com o padrão.
[CONFERIR] Descrição conforme FIGO 2015 (pseudo-sinusoidal pattern).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(2 min)
Use a tabela como resumo, não leia. Peça para a audiência fotografar.
Frase de fechamento do bloco: 'Na dúvida entre os dois, trate como verdadeiro até provar o contrário — prolongue o registro, busque reatividade e olhe o contexto.'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CHECKLIST (1–2 min)
Leia as 5 perguntas em voz alta, devagar. É o slide que as pessoas vão lembrar no plantão.
[COMENTÁRIO] Bom momento para uma enquete/chat: 'Qual dessas perguntas você normalmente NÃO faz?'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
'Agora o padrão mais traiçoeiro do plantão: aquele em que nenhuma desaceleração é grande o suficiente para assustar.'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FISIOLOGIA (3 min)
Esse é o coração da aula. A desaceleração, sozinha, mostra que existe um estímulo. A variabilidade mostra se o bebê está dando conta.
Uma desaceleração tardia com variabilidade moderada: bebê sob estresse, mas compensando. A mesma desaceleração com variabilidade mínima/ausente: bebê perdendo a reserva.
[CONFERIR] A afirmação sobre variabilidade moderada e ausência de acidemia metabólica está no ACOG PB 106 / NICHD 2008.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TRAÇADO (4 min) — faça a pausa!
Mostre o traçado e peça: 'classifique antes que eu fale'. Depois:
• Olhe o canal da contração primeiro. Agora olhe onde está o fundo de cada desaceleração: sempre depois do pico da contração.
• A amplitude é pequena — 10, 12 bpm. É exatamente por isso que passa.
• E a variabilidade entre as contrações está mínima.
Este é o 'gorila' do CTG intraparto: um traçado sem nada 'dramático' que, na verdade, mostra um bebê perdendo a reserva.
[CONFERIR] Definição de desaceleração tardia (NICHD/ACOG) não exige amplitude mínima.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CLASSIFICAÇÕES (3 min)
Mensagem: independentemente do sistema, a combinação 'desaceleração recorrente + variabilidade reduzida' sobe o nível de alerta e pede ação.
Note que na FIGO o 'relógio' fica mais curto quando a variabilidade cai (20 min em vez de 30).
[CONFERIR — IMPORTANTE] Revise os critérios de cada diretriz antes de apresentar (ACOG PB 106; FIGO 2015; SOGC 2020 nº 396). No quadro da SOGC deixei um texto genérico de propósito: substitua pelos critérios exatos do seu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EVOLUÇÃO (3 min)
A pergunta de ouro no plantão: 'como estava há uma hora?'. Um traçado 'Categoria II' que ficou com linha de base mais alta, sem acelerações e com variabilidade caindo é muito diferente de um Categoria II estável.
Note o passo 3: a linha de base sobe (resposta catecolaminérgica) — muita gente não percebe porque ainda está 'dentro do normal', ex.: de 130 para 155.
[CONFERIR] Sequência baseada na abordagem 'fisiológica' da CTG (hipóxia de evolução gradual) e na descrição da FIGO 2015. Nem todo caso segue essa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
'E se o traçado não tiver desaceleração nenhuma? Só uma linha tranquila, lisinha… Isso é bom?'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CAUSAS (3 min)
A variabilidade reduzida é inespecífica — por isso tanta gente 'normaliza'. A pergunta é: existe uma explicação benigna E o traçado se recupera no tempo esperado?
FIGO define variabilidade reduzida como &lt; 5 bpm por mais de 50 min em segmentos de linha de base (ou &gt; 3 min durante desacelerações).
[CONFERIR] Duração típica dos ciclos de sono fetal e o critério de 50 min (FIGO 2015).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TRAÇADO LISO (3 min)
Esse traçado não dispara nenhum alarme 'clássico': não tem desaceleração, não tem bradicardia. Mas também não tem nenhum sinal de bem-estar.
Um traçado persistentemente liso pode aparecer num bebê cronicamente hipoxêmico ou que já sofreu uma lesão — e aí esperar 'acordar' é perder tempo.
[COMENTÁRIO] Se você usa CTG computadorizada (Dawes-Redman), mencione a STV aqui. [CONFERIR] valores de corte de STV (ex.: os usados no TRUFFLE).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CONDUTA (2–3 min)
Enfatize o passo 3: 'dar tempo' é aceitável — mas com prazo definido e com reavaliação ativa, não esquecendo o traçado rodando.
[COMENTÁRIO] Estímulo vibroacústico (anteparto) e estímulo do couro cabeludo fetal (intraparto) — cite apenas os métodos que o seu serviço usa.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
'Até aqui falamos de traçados que mostram o problema. Agora, do contrário: o bebê em risco com um traçado que ainda parece ótimo.'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DPP INICIAL (4 min)
Mostre o traçado: a FCF está tranquilizadora. Agora peça que olhem o canal de baixo: contrações muito frequentes, pequenas, com tônus de base elevado. Junte com a clínica: dor, hipertonia, sangramento.
No DPP inicial ou pequeno, a área de troca ainda pode ser suficiente e o bebê compensa. O CTG muda quando a reserva acaba — e aí pode ser rápido.
Mensagem: CTG normal não 'libera' uma paciente com quadro clínico sugestivo. Reavalie, repita, discuta.
[CONFERIR] Não tenho uma referência verificada específica para citar neste slide; use a referência que você já usa nas suas aulas sobre DPP. A baixa sensibilidade do ultrassom para DPP é amplamente descrita, mas confira 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ARMADILHAS (3 min)
Passe pelas 6 rapidamente. Destaque a primeira: registrar a FC materna é um erro frequente e perigoso — se a 'FCF' está igual ao pulso materno, desconfie.
[COMENTÁRIO] Se tiver um caso real (anonimizado) de sinal materno, este é o melhor lugar para contá-lo.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(2 min)
O objetivo é ter uma ordem fixa de leitura, para que o seu cérebro não pule etapas quando está cansado.
Repare que 'sinal' e 'contrações' vêm ANTES da frequência cardíaca — foi exatamente aí que estavam as pistas no DPP e no registro materno.
[COMENTÁRIO] Se quiser oferecer um material de apoio (PDF de 1 página), este é o slide para anunciar.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+ OFERTA (5–8 min)
Recapitule as 4 mensagens. Depois faça a ponte para a formação completa e/ou o app:
'Hoje você treinou o olhar para os padrões graves. Na formação, a gente aplica o modelo SOGC no CTG anteparto, traçado a traçado, com o apoio do aplicativo que eu criei.'
[EDITAR] Preencha o card com a oferta real (nome do produto, condição, prazo, link).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[COMENTÁRIO] Referências listadas de memória — confira título, ano e periódico de cada uma antes de apresentar. Acrescente a diretriz SOGC de vigilância anteparto que você usa no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572000" cy="4572000"/>
          </a:xfrm>
          <a:prstGeom prst="ellipse">
            <a:avLst/>
          </a:prstGeom>
          <a:solidFill>
            <a:srgbClr val="F5630A">
              <a:alpha val="12000"/>
            </a:srgbClr>
          </a:solidFill>
          <a:ln w="12700">
            <a:solidFill>
              <a:srgbClr val="2D0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SERENIDADE LAB · AULA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Cardiotocografia:</a:t>
            </a:r>
            <a:endParaRPr lang="en-US" sz="3800" dirty="0"/>
          </a:p>
          <a:p>
            <a:pPr indent="0" marL="0">
              <a:buNone/>
            </a:pPr>
            <a:r>
              <a:rPr lang="en-US" sz="3800" b="1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padrões que não podem ser perdidos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× pseudossinusoidal · desacelerações com variabilidade reduzida · variabilidade reduzida · quando o CTG ainda não mostrou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Caroline Reis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Conteúdo educacional para profissionais de saúde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 QUE OS PADRÕES GRAVES PASSAM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Olhar não é o mesmo que enxergar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749040" cy="2926080"/>
          </a:xfrm>
          <a:prstGeom prst="roundRect">
            <a:avLst>
              <a:gd name="adj" fmla="val 3750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de 24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radiologistas experientes não viram um gorila inserido numa TC de tórax enquanto procuravam nódulos.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Drew, Võ &amp; Wolfe · Psychol Sci 2013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64592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era equipamento.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experiência, nem inteligência.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padrão de busca: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apaga o que não foi treinado para procurar.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CTG,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grave muitas vezes parece normal: uma onda "bonita", uma desaceleração rasa, uma linha lisa.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QUE VAMOS VER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padrões que não podem passar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sinusoidal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762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Verdadeiro, atípico e o diagnóstico diferencial com o pseudossinusoidal.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828800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Desacelerações recorrentes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32120" y="21762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variabilidade reduzida: a combinação que sinaliza perda de compensação.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da variabilidade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6850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Sono, medicação, prematuridade — ou hipóxia?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39776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337560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53212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CTG não mostra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36850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 inicial e outras armadilhas em que o traçado ainda está normal.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LINGUAGEM COMUM (NICHD / ACOG)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tudo: as mesmas palavras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0A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Linha de base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da FCF em 10 min, arredondada a 5 bpm. Normal: 110–160 bpm.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0A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Variabilidade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Ausente (indetectável) · mínima (≤ 5 bpm) · moderada (6–25) · marcada (&gt; 25).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0A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Aceleração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32 sem: ≥ 15 bpm por ≥ 15 s. &lt; 32 sem: ≥ 10 bpm por ≥ 10 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0A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Desaceleração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Precoce, tardia, variável ou prolongada (≥ 2 min e &lt; 10 min).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0A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Recorrente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 em ≥ 50% das contrações numa janela de 20 min.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5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FIGO 2015 usa definições próximas, com diferenças (ex.: variabilidade "reduzida" &lt; 5 bpm). Use sempre a classificação do seu serviço.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468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BLOCO 1 DE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</a:t>
            </a:r>
            <a:pPr indent="0" marL="0">
              <a:buNone/>
            </a:pPr>
            <a:r>
              <a:rPr lang="en-US" sz="3000" b="1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sinusoidal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gorila que parece variabilidade.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1.1 · SINUSOIDAL VERDADEIRO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onda perfeita demais para ser saudável</a:t>
            </a:r>
            <a:endParaRPr lang="en-US" sz="2400" dirty="0"/>
          </a:p>
        </p:txBody>
      </p:sp>
      <p:pic>
        <p:nvPicPr>
          <p:cNvPr id="4" name="Image 0" descr="/tmp/claude-0/-home-user-serenidade-lab/5e54e794-ac3d-5ecb-9ac2-a154c1be8922/scratchpad/build/ctg_sinusoi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19229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280160"/>
            <a:ext cx="2880360" cy="3246120"/>
          </a:xfrm>
          <a:prstGeom prst="roundRect">
            <a:avLst>
              <a:gd name="adj" fmla="val 3810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8932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(FIGO 2015)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78308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regular e suave, como um seno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5–15 bpm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3–5 ciclos/min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&gt; 30 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acelerações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37490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ACOG: ≥ 20 min = Categoria III. SOGC: anormal.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337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erro clássico: ler como "variabilidade moderada" e seguir tranquilo.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1.2 · SIGNIFICADO E CONDUTA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Sinusoidal: emergência até prova em contrário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Pense em…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fetal grave: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aloimunização, hemorragia feto-materna, vasa prévia rota, transfusão feto-fetal, parvovírus B19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Hipóxia/acidose grave: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também é descrito nesse cenário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sangramento, trauma, ↓ movimentos, hidropsia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 ajuda e avalie a paciente agora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o sinal é fetal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houver tempo e contexto: Doppler da ACM (pico de velocidade sistólica), teste de Kleihauer-Betke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via/tempo de parto ou transfusão intrauterina conforme IG e protocolo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1.3 · SINUSOIDAL ATÍPICO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onda imperfeita — e ainda assim grave</a:t>
            </a:r>
            <a:endParaRPr lang="en-US" sz="2400" dirty="0"/>
          </a:p>
        </p:txBody>
      </p:sp>
      <p:pic>
        <p:nvPicPr>
          <p:cNvPr id="4" name="Image 0" descr="/tmp/claude-0/-home-user-serenidade-lab/5e54e794-ac3d-5ecb-9ac2-a154c1be8922/scratchpad/build/ctg_sinusoidal_atip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19229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280160"/>
            <a:ext cx="2880360" cy="3246120"/>
          </a:xfrm>
          <a:prstGeom prst="roundRect">
            <a:avLst>
              <a:gd name="adj" fmla="val 3810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89320" y="14173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costuma chamar atenção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92024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menos regular: amplitude e frequência variam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Persistente, sem segmentos normais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acelerações e sem resposta a estímulo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anemia, hemorragia ou hipóxia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375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terminologia varia entre autores. O que decide é persistência + ausência de reatividade + contexto.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1.4 · PSEUDOSSINUSOIDAL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Parece, assusta — e costuma ser benigno</a:t>
            </a:r>
            <a:endParaRPr lang="en-US" sz="2400" dirty="0"/>
          </a:p>
        </p:txBody>
      </p:sp>
      <p:pic>
        <p:nvPicPr>
          <p:cNvPr id="4" name="Image 0" descr="/tmp/claude-0/-home-user-serenidade-lab/5e54e794-ac3d-5ecb-9ac2-a154c1be8922/scratchpad/build/ctg_pseudossinusoi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19229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280160"/>
            <a:ext cx="2880360" cy="3246120"/>
          </a:xfrm>
          <a:prstGeom prst="roundRect">
            <a:avLst>
              <a:gd name="adj" fmla="val 3810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8932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Critérios (FIGO 2015)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89320" y="178308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 "serrilhado", menos suave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Raramente &gt; 30 min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Traçado normal antes e depois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analgésicos (opioides) ou sucção / movimentos orais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37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chave está no que vem antes e depois: acelerações e variabilidade normal.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1.5 · DIAGNÓSTICO DIFERENCIAL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Sinusoidal × pseudossinusoidal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37560"/>
                <a:gridCol w="3154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Sinusoidal (verdadeiro / atípico)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0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0A4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Pseudossinusoidal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Suave e regular (atípico: irregular)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Serrilhada, irregular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Persistente (≥ 20–30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Curta, intermitente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/ depois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segmentos normais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Traçado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Acelerações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Anemia, hemorragia, hipóxia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Opioide, sucção, movimentos orais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0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63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D4A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Observar, prolongar registro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CHECKLIST DE BOLSO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Viu uma onda regular? Faça 5 perguntas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636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onda é suave e regular — ou serrilhada?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12264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112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9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6712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quanto tempo está assim? (≥ 20–30 min?)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9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706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acelerações antes, durante ou depois?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9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741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trechos de traçado normal ao redor?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922776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922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9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contexto: opioide, sucção, Rh, sangramento, trauma, ↓ MF?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468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BLOCO 2 DE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Desacelerações recorrentes + </a:t>
            </a:r>
            <a:pPr indent="0" marL="0">
              <a:buNone/>
            </a:pPr>
            <a:r>
              <a:rPr lang="en-US" sz="3000" b="1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variabilidade reduzida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bebê está deixando de compensar.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2.1 · A LÓGICA FISIOLÓGICA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perguntas para cada traçado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776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Existe um estresse?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423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desacelerações contam a história do estímulo: compressão de cordão, redução do fluxo útero-placentário a cada contração.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2377440"/>
          </a:xfrm>
          <a:prstGeom prst="roundRect">
            <a:avLst>
              <a:gd name="adj" fmla="val 4615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783080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bebê está compensando?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231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variabilidade conta a reserva: variabilidade moderada indica, com boa confiabilidade, ausência de acidemia metabólica naquele momento.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Estresse recorrente + reserva que some = descompensação em curso.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2.2 · O PEQUENO QUE É GRANDE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desaceleração rasa que ninguém chama</a:t>
            </a:r>
            <a:endParaRPr lang="en-US" sz="2400" dirty="0"/>
          </a:p>
        </p:txBody>
      </p:sp>
      <p:pic>
        <p:nvPicPr>
          <p:cNvPr id="4" name="Image 0" descr="/tmp/claude-0/-home-user-serenidade-lab/5e54e794-ac3d-5ecb-9ac2-a154c1be8922/scratchpad/build/ctg_tardias_ras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23996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234440"/>
            <a:ext cx="3017520" cy="3337560"/>
          </a:xfrm>
          <a:prstGeom prst="roundRect">
            <a:avLst>
              <a:gd name="adj" fmla="val 3636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852160" y="1417320"/>
            <a:ext cx="2697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Tardia: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início, nadir e recuperação depois do pico da contração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bpm. Não existe profundidade mínima para ser tardia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Recorrente: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≥ 50% das contrações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Variabilidade mínima: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reserva está acabando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2.3 · COMO AS CLASSIFICAÇÕES TRATAM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diretrizes, a mesma mensagem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1664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ACOG / NICHD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031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III: variabilidade AUSENTE + tardias recorrentes, variáveis recorrentes ou bradicardia.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Tardias recorrentes com variabilidade mínima: Categoria II — mas de alto alerta.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47288" y="1664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FIGO 2015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47288" y="21031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Patológico: desacelerações tardias ou prolongadas repetitivas por &gt; 30 min — ou &gt; 20 min se a variabilidade estiver reduzida.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36208" y="1664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SOGC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21031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Anormal: desacelerações tardias recorrentes e/ou variabilidade reduzida persistente.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[Insira aqui os critérios exatos usados no seu app.]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2.4 · O TRAÇADO É UM FILME, NÃO UMA FOTO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hipóxia costuma evoluir no tempo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517904" cy="1371600"/>
          </a:xfrm>
          <a:prstGeom prst="roundRect">
            <a:avLst>
              <a:gd name="adj" fmla="val 8000"/>
            </a:avLst>
          </a:prstGeom>
          <a:solidFill>
            <a:srgbClr val="F3ECFB"/>
          </a:solidFill>
          <a:ln w="12700">
            <a:solidFill>
              <a:srgbClr val="F3EC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2860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Surgem desacelerações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56816" y="21031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39696" y="1691640"/>
            <a:ext cx="1517904" cy="1371600"/>
          </a:xfrm>
          <a:prstGeom prst="roundRect">
            <a:avLst>
              <a:gd name="adj" fmla="val 8000"/>
            </a:avLst>
          </a:prstGeom>
          <a:solidFill>
            <a:srgbClr val="F3ECFB"/>
          </a:solidFill>
          <a:ln w="12700">
            <a:solidFill>
              <a:srgbClr val="F3EC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76856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249424" y="22860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Acelerações somem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1031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822192" y="1691640"/>
            <a:ext cx="1517904" cy="1371600"/>
          </a:xfrm>
          <a:prstGeom prst="roundRect">
            <a:avLst>
              <a:gd name="adj" fmla="val 8000"/>
            </a:avLst>
          </a:prstGeom>
          <a:solidFill>
            <a:srgbClr val="F3ECFB"/>
          </a:solidFill>
          <a:ln w="12700">
            <a:solidFill>
              <a:srgbClr val="F3EC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9352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2860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sobe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21808" y="21031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504688" y="1691640"/>
            <a:ext cx="1517904" cy="1371600"/>
          </a:xfrm>
          <a:prstGeom prst="roundRect">
            <a:avLst>
              <a:gd name="adj" fmla="val 8000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41848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22860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Variabilidade cai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04304" y="21031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5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187184" y="1691640"/>
            <a:ext cx="1517904" cy="1371600"/>
          </a:xfrm>
          <a:prstGeom prst="roundRect">
            <a:avLst>
              <a:gd name="adj" fmla="val 8000"/>
            </a:avLst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24344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296912" y="2286000"/>
            <a:ext cx="1335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Bradicardia terminal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típico da hipóxia de instalação gradual. Na hipóxia aguda (prolapso, rotura, DPP extenso), a sequência pode ser pulada.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o traçado atual com o de 30–60 min atrás.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468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BLOCO 3 DE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Redução da </a:t>
            </a:r>
            <a:pPr indent="0" marL="0">
              <a:buNone/>
            </a:pPr>
            <a:r>
              <a:rPr lang="en-US" sz="3000" b="1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variabilidade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traçado liso é o sinal mais importante.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3.1 · DIAGNÓSTICO DIFERENCIAL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Sono, remédio, prematuridade — ou hipóxia?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Costumam ser reversíveis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fetal (períodos quietos, em geral &lt; 40–50 min)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Medicações: opioides, sulfato de magnésio, sedativos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Prematuridade (sobretudo abaixo de 32 sem)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9776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Preocupantes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03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Hipóxia / acidose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Infecção intra-amniótica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Lesão neurológica prévia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Anemia, arritmias, malformações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3.2 · O TRAÇADO SILENCIOSO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desaceleração não é sem problema</a:t>
            </a:r>
            <a:endParaRPr lang="en-US" sz="2400" dirty="0"/>
          </a:p>
        </p:txBody>
      </p:sp>
      <p:pic>
        <p:nvPicPr>
          <p:cNvPr id="4" name="Image 0" descr="/tmp/claude-0/-home-user-serenidade-lab/5e54e794-ac3d-5ecb-9ac2-a154c1be8922/scratchpad/build/ctg_variabilidade_reduzi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19229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280160"/>
            <a:ext cx="2880360" cy="3246120"/>
          </a:xfrm>
          <a:prstGeom prst="roundRect">
            <a:avLst>
              <a:gd name="adj" fmla="val 3810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89320" y="14630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fixa, sem acelerações e sem desacelerações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 além de um ciclo de sono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indicar hipóxia crônica ou lesão já instalada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anteparto: pense em RCF, Doppler, PBF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375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 bebê está dormindo" é um diagnóstico de exclusão — com prazo.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3.3 · CONDUTA PRÁTICA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Variabilidade reduzida: o que fazer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9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27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o sinal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545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mesmo a FC fetal? Compare com o pulso materno.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9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 contexto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2167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Medicações e horários, IG, febre, sangramento, movimentos.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06624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9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770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tempo com limite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788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Prolongue o registro; considere estímulo (conforme protocolo).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9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392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Corrija o corrigível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3410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Decúbito, hipotensão, taquissistolia, hidratação.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950208"/>
            <a:ext cx="411480" cy="411480"/>
          </a:xfrm>
          <a:prstGeom prst="ellipse">
            <a:avLst/>
          </a:prstGeom>
          <a:solidFill>
            <a:srgbClr val="F5630A"/>
          </a:solidFill>
          <a:ln w="12700">
            <a:solidFill>
              <a:srgbClr val="F5630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9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0142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Persistiu sem explicação?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749040" y="4032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complementar e decisão em equipe.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468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BLOCO 4 DE 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CTG </a:t>
            </a:r>
            <a:pPr indent="0" marL="0">
              <a:buNone/>
            </a:pPr>
            <a:r>
              <a:rPr lang="en-US" sz="3000" b="1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não mostrou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traçado é um retrato do bebê — não da mãe, nem da placenta.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4.1 · DPP INICIAL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 normal, útero contando outra história</a:t>
            </a:r>
            <a:endParaRPr lang="en-US" sz="2400" dirty="0"/>
          </a:p>
        </p:txBody>
      </p:sp>
      <p:pic>
        <p:nvPicPr>
          <p:cNvPr id="4" name="Image 0" descr="/tmp/claude-0/-home-user-serenidade-lab/5e54e794-ac3d-5ecb-9ac2-a154c1be8922/scratchpad/build/ctg_dpp_to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4937760" cy="23996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1234440"/>
            <a:ext cx="3017520" cy="3337560"/>
          </a:xfrm>
          <a:prstGeom prst="roundRect">
            <a:avLst>
              <a:gd name="adj" fmla="val 3636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85216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Olhe também para…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737360"/>
            <a:ext cx="2697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da contração: taquissistolia, tônus basal elevado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Dor, útero doloroso ou hipertônico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Sangramento (pode ser oculto)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vitais maternos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normal não exclui DPP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4.2 · OUTRAS ARMADILHAS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traçado engana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 materna registrada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Parece normal — mas não é o bebê. Especialmente no expulsivo.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Óbito fetal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aparelho pode captar o pulso materno e "mostrar" um traçado.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Arritmias fetais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fixa ou bradicárdica sem relação com hipóxia.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182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RCF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restrição de crescimento, o Doppler costuma alterar antes do CTG.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429000" y="3182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agudos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Prolapso de cordão, rotura uterina, rotura de vasa prévia.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3ECFB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3182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retrato do momento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Reativo hoje não garante amanhã: o intervalo depende do risco.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O PRÓXIMO PLANTÃO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leitura em 7 passos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92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Risco, IG, medicações, queixa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231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bebê? Compare com o pulso materno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9809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Contrações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Frequência, duração, tônus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730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 tendência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508760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1792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reserva do bebê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258568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6344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231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Acelerações / desacelerações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profundidade, recorrência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008376"/>
            <a:ext cx="457200" cy="457200"/>
          </a:xfrm>
          <a:prstGeom prst="ellipse">
            <a:avLst/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29809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Classifique, compare com o anterior, decida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3931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5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em mnemônicos como o DR C BRAVADO.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0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377440"/>
            <a:ext cx="4572000" cy="4572000"/>
          </a:xfrm>
          <a:prstGeom prst="ellipse">
            <a:avLst/>
          </a:prstGeom>
          <a:solidFill>
            <a:srgbClr val="F5630A">
              <a:alpha val="12000"/>
            </a:srgbClr>
          </a:solidFill>
          <a:ln w="12700">
            <a:solidFill>
              <a:srgbClr val="2D0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 LEVAR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Olho treinado </a:t>
            </a:r>
            <a:pPr indent="0" marL="0">
              <a:buNone/>
            </a:pPr>
            <a:r>
              <a:rPr lang="en-US" sz="3600" b="1" i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muda desfecho.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regular demais não é variabilidade: pense em sinusoidal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Desaceleração rasa + variabilidade caindo = reserva acabando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Traçado liso tem prazo para se explicar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C4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 normal não exclui DPP nem outros eventos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5669280" cy="868680"/>
          </a:xfrm>
          <a:prstGeom prst="roundRect">
            <a:avLst>
              <a:gd name="adj" fmla="val 12632"/>
            </a:avLst>
          </a:prstGeom>
          <a:solidFill>
            <a:srgbClr val="5B2D8E"/>
          </a:solidFill>
          <a:ln w="9525">
            <a:solidFill>
              <a:srgbClr val="E8DDF5"/>
            </a:solidFill>
            <a:prstDash val="solid"/>
          </a:ln>
          <a:effectLst>
            <a:outerShdw sx="100000" sy="100000" kx="0" ky="0" algn="bl" rotWithShape="0" blurRad="101600" dist="25400" dir="5400000">
              <a:srgbClr val="2D0A4E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37947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[formação completa / app de classificação SOGC — condição exclusiva para quem assistiu]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4A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63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REFERÊNCIAS (CONFERIR ANTES DE APRESENTAR)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Ayres-de-Campos D, Spong CY, Chandraharan E. FIGO consensus guidelines on intrapartum fetal monitoring: Cardiotocography. Int J Gynaecol Obstet. 2015.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Macones GA et al. The 2008 NICHD workshop report on electronic fetal monitoring. Obstet Gynecol. 2008.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ACOG Practice Bulletin No. 106: Intrapartum fetal heart rate monitoring. 2009.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 S, Ehman W. No. 396 – Fetal Health Surveillance: Intrapartum Consensus Guideline. J Obstet Gynaecol Can. 2020.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Modanlou HD, Freeman RK. Sinusoidal fetal heart rate pattern: its definition and clinical significance. Am J Obstet Gynecol. 1982.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Modanlou HD, Murata Y. Sinusoidal heart rate pattern: reappraisal of its definition and clinical significance. J Obstet Gynaecol Res. 2004.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5D4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Drew T, Võ ML-H, Wolfe JM. The invisible gorilla strikes again. Psychol Sci. 2013.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73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D0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Serenidade</a:t>
            </a:r>
            <a:pPr indent="0" marL="0">
              <a:buNone/>
            </a:pPr>
            <a:r>
              <a:rPr lang="en-US" sz="1000" b="1" dirty="0">
                <a:solidFill>
                  <a:srgbClr val="F563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47914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5C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Caroline Reis · CTG: padrões que não podem ser perdidos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Cardiotocografia: os padrões que não podem ser perdidos</dc:title>
  <dc:subject>PptxGenJS Presentation</dc:subject>
  <dc:creator>Caroline Reis · Serenidade Lab</dc:creator>
  <cp:lastModifiedBy>Caroline Reis · Serenidade Lab</cp:lastModifiedBy>
  <cp:revision>1</cp:revision>
  <dcterms:created xsi:type="dcterms:W3CDTF">2026-09-28T04:20:14Z</dcterms:created>
  <dcterms:modified xsi:type="dcterms:W3CDTF">2026-09-28T04:20:14Z</dcterms:modified>
</cp:coreProperties>
</file>